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fair Displ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69DED4-DA42-44DB-AD0F-6948BCC2D73B}">
  <a:tblStyle styleId="{F569DED4-DA42-44DB-AD0F-6948BCC2D7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regular.fntdata"/><Relationship Id="rId22" Type="http://schemas.openxmlformats.org/officeDocument/2006/relationships/font" Target="fonts/PlayfairDisplay-italic.fntdata"/><Relationship Id="rId21" Type="http://schemas.openxmlformats.org/officeDocument/2006/relationships/font" Target="fonts/PlayfairDisplay-bold.fntdata"/><Relationship Id="rId24" Type="http://schemas.openxmlformats.org/officeDocument/2006/relationships/font" Target="fonts/Lato-regular.fntdata"/><Relationship Id="rId23" Type="http://schemas.openxmlformats.org/officeDocument/2006/relationships/font" Target="fonts/Playfair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2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3.png"/><Relationship Id="rId7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43025" y="1743075"/>
            <a:ext cx="9505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8080"/>
                </a:solidFill>
                <a:latin typeface="Lato"/>
                <a:ea typeface="Lato"/>
                <a:cs typeface="Lato"/>
                <a:sym typeface="Lato"/>
              </a:rPr>
              <a:t>FINAL PROJECT SUBMISSION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05376" y="2124075"/>
            <a:ext cx="99812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Handwritten Digit Recognition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43025" y="3228975"/>
            <a:ext cx="9505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Applying Deep Learning in Pharmaceutical Research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43025" y="4200525"/>
            <a:ext cx="9505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Smrutirani Adhikari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43025" y="4686300"/>
            <a:ext cx="9505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Master of Pharmacy (Pharmacognosy) | Utkal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619750" y="2876550"/>
            <a:ext cx="952500" cy="5715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095500" y="3219450"/>
            <a:ext cx="800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3524250"/>
            <a:ext cx="7620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comprehensive 12-step implementation using TensorFlow and Keras to build a computer vision model for digit classification.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78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194786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Standardized Data Source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18598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Modified National Institute of Standards and Technology (MNIST) dataset is the industry standard for testing image processing systems.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78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1000125" y="332898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70,000 Grayscale images of digits 0-9.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3910012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28 x 28 pixel resolution per image.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000125" y="4491037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60,000 train / 10,000 test split.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62325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43350"/>
            <a:ext cx="2381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MNIST Dataset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775"/>
            <a:ext cx="523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90775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52500" y="2809875"/>
            <a:ext cx="47005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8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1. Normalization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52500" y="3362325"/>
            <a:ext cx="4476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Raw pixel values range from 0 to 255. We scale these values to a range between 0 and 1. This "normalization" ensures the mathematical gradients stay stable, leading to faster and more reliable model convergence.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762750" y="2809875"/>
            <a:ext cx="47005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8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Reshaping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762750" y="3362325"/>
            <a:ext cx="4476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Images are initially 2D matrices. To process them through a standard Multi-Layer Perceptron, we flatten the array into a 1D vector of 784 elements, serving as the input nodes for the neural network.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7550" y="4019550"/>
            <a:ext cx="594121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Methodology: Preprocessing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2687"/>
            <a:ext cx="34290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52687"/>
            <a:ext cx="34290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52687"/>
            <a:ext cx="342900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885825" y="3595687"/>
            <a:ext cx="28003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TensorFlow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3833812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High-performance library for numerical computation and large-scale machine learning.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95825" y="3595687"/>
            <a:ext cx="28003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Matplotlib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762500" y="3833812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Essential for visualizing the training history and verifying prediction outputs.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505825" y="3595687"/>
            <a:ext cx="28003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Google Colab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572500" y="3833812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Cloud-based development environment utilizing GPU acceleration for training.</a:t>
            </a:r>
            <a:endParaRPr/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875" y="28813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2881312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5962" y="288131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Technology Stack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78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19478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implemented a Sequential model representing a Multi-Layer Perceptron (MLP) with the following structure: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78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1000125" y="2709862"/>
            <a:ext cx="4810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Input Layer: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784 flattened pixels.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00125" y="3290887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Hidden Layers: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2 Dense layers with 50 neurons each (ReLU activation).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00125" y="4214812"/>
            <a:ext cx="4810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Output Layer: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 neurons with Sigmoid/Softmax activation.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432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2422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48150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Neural Network Architecture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8" name="Google Shape;168;p19"/>
          <p:cNvGraphicFramePr/>
          <p:nvPr/>
        </p:nvGraphicFramePr>
        <p:xfrm>
          <a:off x="1695450" y="2105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{F569DED4-DA42-44DB-AD0F-6948BCC2D73B}</a:tableStyleId>
              </a:tblPr>
              <a:tblGrid>
                <a:gridCol w="1504950"/>
                <a:gridCol w="3095625"/>
                <a:gridCol w="4200525"/>
              </a:tblGrid>
              <a:tr h="69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</a:tr>
              <a:tr h="69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Efficient stochastic gradient descent algorithm.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Loss 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Sparse Categorical Crossentropy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Used for multi-class classification tasks.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Epochs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Number of full passes through the training set.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measure of model performance.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9" name="Google Shape;169;p19"/>
          <p:cNvSpPr/>
          <p:nvPr/>
        </p:nvSpPr>
        <p:spPr>
          <a:xfrm>
            <a:off x="1695450" y="3557587"/>
            <a:ext cx="1504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200400" y="3557587"/>
            <a:ext cx="3095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296025" y="3557587"/>
            <a:ext cx="4200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1695450" y="4233862"/>
            <a:ext cx="1504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200400" y="4233862"/>
            <a:ext cx="3095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296025" y="4233862"/>
            <a:ext cx="4200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695450" y="4910137"/>
            <a:ext cx="1504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3200400" y="4910137"/>
            <a:ext cx="3095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296025" y="4910137"/>
            <a:ext cx="4200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1695450" y="5586412"/>
            <a:ext cx="1504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200400" y="5586412"/>
            <a:ext cx="30956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296025" y="5586412"/>
            <a:ext cx="42005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Hyperparameters &amp; Configuration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954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5495925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Over 10 epochs, the model successfully minimized loss and reached near-human levels of digit recognition, as seen in the training history.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2200275"/>
            <a:ext cx="5238750" cy="202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808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98.9%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4229100"/>
            <a:ext cx="5238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Training Accuracy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954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Performance Analysis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0212"/>
            <a:ext cx="5238750" cy="4305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00212"/>
            <a:ext cx="523875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719512"/>
            <a:ext cx="44767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952500" y="2119312"/>
            <a:ext cx="47005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8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Test Prediction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52500" y="2671762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model was verified using unseen test data. In our final test, the digit "7" was correctly identified with absolute precision, matching the ground-truth label.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762750" y="2119312"/>
            <a:ext cx="470058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808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Final Reliability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762750" y="2671762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final test accuracy achieved was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97.08%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This high score confirms that the model generalizes well to new data and is ready for pharmaceutical application.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719512"/>
            <a:ext cx="44767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Real-World Verification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762000" y="762000"/>
            <a:ext cx="5000625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Pharmacognosy Application</a:t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571500" y="762000"/>
            <a:ext cx="95250" cy="11239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38100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21717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As a Master of Pharmacy student, the core objective is to bridge the gap between AI and Botanical Science.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00125" y="3038475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Automated identification of medicinal plant leaf sections (T.S.).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000125" y="3962400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Detection of adulterants in herbal powders using computer vision.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000125" y="4886325"/>
            <a:ext cx="4524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Faster drug discovery through chemical structure recognition.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718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573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19662"/>
            <a:ext cx="2381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1000125" y="2424112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Workflow Validated: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Successfully implemented the full 12-step Deep Learning pipeline.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000125" y="3005137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Optimized Model: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Achieved 97.08% test accuracy with an efficient MLP architecture.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000125" y="3586162"/>
            <a:ext cx="10620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Next Steps: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Transitioning to Convolutional Neural Networks (CNNs) for complex botanical image classification.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000125" y="4510087"/>
            <a:ext cx="106203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Integration: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Using these AI foundations to enhance pharmaceutical quality control and phytochemical standardization.</a:t>
            </a:r>
            <a:endParaRPr/>
          </a:p>
        </p:txBody>
      </p:sp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745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3847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19500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3425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762000" y="5715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&amp; Future Scope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71500" y="571500"/>
            <a:ext cx="95250" cy="56197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8150" y="3895725"/>
            <a:ext cx="369570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3505676" y="1809750"/>
            <a:ext cx="5180647" cy="1266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2147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Questions?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3629025" y="3076575"/>
            <a:ext cx="4933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Thank you for your valuable time and attention.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4248150" y="4191000"/>
            <a:ext cx="3695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Smrutirani Adhikari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4248150" y="4619625"/>
            <a:ext cx="3695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M.Pharm (Pharmacognosy) | Utkal University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/>
          <p:nvPr/>
        </p:nvSpPr>
        <p:spPr>
          <a:xfrm>
            <a:off x="571500" y="18430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6146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38613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43291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